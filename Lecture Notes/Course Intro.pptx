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68" r:id="rId2"/>
    <p:sldId id="298" r:id="rId3"/>
    <p:sldId id="294" r:id="rId4"/>
    <p:sldId id="299" r:id="rId5"/>
    <p:sldId id="283" r:id="rId6"/>
    <p:sldId id="288" r:id="rId7"/>
    <p:sldId id="289" r:id="rId8"/>
    <p:sldId id="287" r:id="rId9"/>
    <p:sldId id="290" r:id="rId10"/>
    <p:sldId id="291" r:id="rId11"/>
    <p:sldId id="308" r:id="rId12"/>
    <p:sldId id="293" r:id="rId13"/>
    <p:sldId id="292" r:id="rId14"/>
    <p:sldId id="302" r:id="rId15"/>
    <p:sldId id="296" r:id="rId16"/>
    <p:sldId id="307" r:id="rId17"/>
    <p:sldId id="309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  <a:srgbClr val="047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728FB-1E6C-477C-B631-4542CD9DCF50}" v="169" dt="2024-08-30T22:15:21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5"/>
    <p:restoredTop sz="88312" autoAdjust="0"/>
  </p:normalViewPr>
  <p:slideViewPr>
    <p:cSldViewPr snapToGrid="0" snapToObjects="1">
      <p:cViewPr varScale="1">
        <p:scale>
          <a:sx n="93" d="100"/>
          <a:sy n="93" d="100"/>
        </p:scale>
        <p:origin x="2136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C9D30-F937-4946-BF68-C2E8F399033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57A40-3F5B-2746-BCA8-8E2C028FF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8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83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2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40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47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54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80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25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5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75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18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83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straight up read this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52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straight up read this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7A40-3F5B-2746-BCA8-8E2C028FFD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60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BC996-1AF1-15C1-70FE-615DF9CBFE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917" y="903391"/>
            <a:ext cx="6250685" cy="2106570"/>
          </a:xfrm>
        </p:spPr>
        <p:txBody>
          <a:bodyPr rIns="91440">
            <a:normAutofit/>
          </a:bodyPr>
          <a:lstStyle>
            <a:lvl1pPr>
              <a:defRPr sz="3600"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>
                <a:effectLst/>
              </a:rPr>
              <a:t>Insert slide title in title or sentence case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1B425-093C-0149-952F-11573DF09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917" y="3218871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AB265-C0D2-A543-B156-B0221787B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33907"/>
            <a:ext cx="9144000" cy="11240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B10240F-B4BA-0448-B9CB-BAB80DBF6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917" y="3519489"/>
            <a:ext cx="6250685" cy="701877"/>
          </a:xfrm>
        </p:spPr>
        <p:txBody>
          <a:bodyPr anchor="t">
            <a:noAutofit/>
          </a:bodyPr>
          <a:lstStyle>
            <a:lvl1pPr marL="0" indent="0"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pPr lvl="0"/>
            <a:r>
              <a:rPr lang="en-US" dirty="0"/>
              <a:t>Insert subtitle, date, or other important information, not to exceed two lines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4FFE49-5199-9649-BB93-106054861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917" y="5953913"/>
            <a:ext cx="7733559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name, position, department/unit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B1C6F3-8D05-7245-98E0-6A89EF37B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7339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E0C0CF-9F78-455B-D981-3DC0727F34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917" y="905689"/>
            <a:ext cx="6250685" cy="2106570"/>
          </a:xfrm>
        </p:spPr>
        <p:txBody>
          <a:bodyPr rIns="9144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</a:rPr>
              <a:t>Insert slide title in title or sentence case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1B425-093C-0149-952F-11573DF09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917" y="3218871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B10240F-B4BA-0448-B9CB-BAB80DBF6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917" y="3519489"/>
            <a:ext cx="6250685" cy="701877"/>
          </a:xfrm>
        </p:spPr>
        <p:txBody>
          <a:bodyPr anchor="t">
            <a:noAutofit/>
          </a:bodyPr>
          <a:lstStyle>
            <a:lvl1pPr marL="0" indent="0">
              <a:buNone/>
              <a:defRPr sz="2200">
                <a:solidFill>
                  <a:schemeClr val="tx1">
                    <a:lumMod val="25000"/>
                    <a:lumOff val="75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pPr lvl="0"/>
            <a:r>
              <a:rPr lang="en-US" dirty="0"/>
              <a:t>Insert subtitle, date, or other important information, not to exceed two lines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4FFE49-5199-9649-BB93-106054861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917" y="5953913"/>
            <a:ext cx="7733559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6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department/unit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797619-8B01-0549-8F5E-787C3097DC7B}"/>
              </a:ext>
            </a:extLst>
          </p:cNvPr>
          <p:cNvSpPr/>
          <p:nvPr userDrawn="1"/>
        </p:nvSpPr>
        <p:spPr>
          <a:xfrm>
            <a:off x="8530683" y="0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A5686C4D-738C-8049-8292-137F1F10E4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9280" y="222227"/>
            <a:ext cx="456123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2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EAA1-5370-00EF-9A69-09341B248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021" y="457200"/>
            <a:ext cx="8001000" cy="1066800"/>
          </a:xfrm>
        </p:spPr>
        <p:txBody>
          <a:bodyPr rIns="91440"/>
          <a:lstStyle>
            <a:lvl1pPr>
              <a:defRPr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>
                <a:effectLst/>
              </a:rPr>
              <a:t>Insert slide title in title or sentence case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FC75F-7C56-4347-B180-B45A7C3C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476" y="16257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33615FB-E867-334E-BB0E-3B18A26595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4425" y="1840448"/>
            <a:ext cx="7258050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2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A315EF-C99D-DF4A-94FC-CDB4F9DECB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42306"/>
            <a:ext cx="6697346" cy="352084"/>
          </a:xfrm>
          <a:solidFill>
            <a:schemeClr val="accent1"/>
          </a:solidFill>
          <a:ln>
            <a:noFill/>
          </a:ln>
        </p:spPr>
        <p:txBody>
          <a:bodyPr wrap="none" lIns="274320" tIns="64008" rIns="18288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23CF-2C75-F2A9-1F84-F23AB1A22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Ins="91440"/>
          <a:lstStyle>
            <a:lvl1pPr>
              <a:defRPr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>
                <a:effectLst/>
              </a:rPr>
              <a:t>Insert slide title in title or sentence case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FC75F-7C56-4347-B180-B45A7C3C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476" y="16257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33615FB-E867-334E-BB0E-3B18A26595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4425" y="1840448"/>
            <a:ext cx="3361911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1950">
                <a:solidFill>
                  <a:schemeClr val="tx1"/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A315EF-C99D-DF4A-94FC-CDB4F9DECB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6537038"/>
            <a:ext cx="6697346" cy="352084"/>
          </a:xfrm>
          <a:solidFill>
            <a:schemeClr val="accent1"/>
          </a:solidFill>
          <a:ln>
            <a:noFill/>
          </a:ln>
        </p:spPr>
        <p:txBody>
          <a:bodyPr wrap="none" lIns="274320" tIns="64008" rIns="18288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0DEE38D-2FF0-2A49-A7D1-AF607FA3AB7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67665" y="1840448"/>
            <a:ext cx="3704810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1950">
                <a:solidFill>
                  <a:schemeClr val="tx1"/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</p:spTree>
    <p:extLst>
      <p:ext uri="{BB962C8B-B14F-4D97-AF65-F5344CB8AC3E}">
        <p14:creationId xmlns:p14="http://schemas.microsoft.com/office/powerpoint/2010/main" val="374076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A194C-A4B8-2148-8BE0-5451BAAC5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9144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C912DB-E11B-3D4C-9D09-221D4E87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24128"/>
            <a:ext cx="8372475" cy="5825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DBCEB-EA83-B646-A716-9EAB713C5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4226929"/>
            <a:ext cx="3948113" cy="35445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Insert subtitle if needed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2A8E911-3157-1444-8D3E-B3404B047192}"/>
              </a:ext>
            </a:extLst>
          </p:cNvPr>
          <p:cNvSpPr/>
          <p:nvPr userDrawn="1"/>
        </p:nvSpPr>
        <p:spPr>
          <a:xfrm>
            <a:off x="6535674" y="1024128"/>
            <a:ext cx="1836801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6C9F2-5465-8D47-8351-B6B681C4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4426" y="4007404"/>
            <a:ext cx="353642" cy="94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1266FC-2449-334F-9B22-0937AD6B1315}"/>
              </a:ext>
            </a:extLst>
          </p:cNvPr>
          <p:cNvSpPr/>
          <p:nvPr userDrawn="1"/>
        </p:nvSpPr>
        <p:spPr>
          <a:xfrm>
            <a:off x="8530101" y="10026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9BAB6-56DA-7C3C-9319-C5F490DF8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4425" y="2506366"/>
            <a:ext cx="6209402" cy="1375519"/>
          </a:xfrm>
        </p:spPr>
        <p:txBody>
          <a:bodyPr rIns="91440">
            <a:norm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</a:rPr>
              <a:t>Insert section header slide title</a:t>
            </a:r>
            <a:endParaRPr lang="en-US" dirty="0"/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0E0B867E-4626-0B46-8BD3-B9D962EC3C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68698" y="232253"/>
            <a:ext cx="456123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ECEB0E-880C-6049-9B69-BA2FEE345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9144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C912DB-E11B-3D4C-9D09-221D4E87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24128"/>
            <a:ext cx="8372475" cy="5833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DBCEB-EA83-B646-A716-9EAB713C5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4226929"/>
            <a:ext cx="3948113" cy="35445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Insert subtitle if needed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1E94CE-F71B-1944-B826-00353C87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4426" y="40074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FF968CE-35E2-E543-8D71-1D8778441684}"/>
              </a:ext>
            </a:extLst>
          </p:cNvPr>
          <p:cNvSpPr/>
          <p:nvPr userDrawn="1"/>
        </p:nvSpPr>
        <p:spPr>
          <a:xfrm>
            <a:off x="6535674" y="1024128"/>
            <a:ext cx="1836801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tx1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43335-BCFE-4F42-9A19-F9110C930604}"/>
              </a:ext>
            </a:extLst>
          </p:cNvPr>
          <p:cNvSpPr/>
          <p:nvPr userDrawn="1"/>
        </p:nvSpPr>
        <p:spPr>
          <a:xfrm>
            <a:off x="8529632" y="4133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9A7CB55A-D1C4-764D-A70A-997226326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68229" y="226360"/>
            <a:ext cx="456123" cy="716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0F3196-1D5F-5590-1845-46B46A3EC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4425" y="2514600"/>
            <a:ext cx="6209402" cy="1367564"/>
          </a:xfrm>
        </p:spPr>
        <p:txBody>
          <a:bodyPr rIns="91440">
            <a:norm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</a:rPr>
              <a:t>Insert section header slide 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1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457200"/>
            <a:ext cx="8001000" cy="1066800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 in title or sentence case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2D08E-EF69-07CC-EDB4-C1B4E820D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35280"/>
            <a:ext cx="8001000" cy="313932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 descr="UW–Madison logo with white text on red background">
            <a:extLst>
              <a:ext uri="{FF2B5EF4-FFF2-40B4-BE49-F238E27FC236}">
                <a16:creationId xmlns:a16="http://schemas.microsoft.com/office/drawing/2014/main" id="{30C90E4E-BFE2-F24A-BEE4-72198F0978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5444" y="2976145"/>
            <a:ext cx="2633112" cy="88583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4FD8238-1613-B6D1-CBB4-54E43A2B0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140"/>
            <a:ext cx="8001000" cy="203200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258312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 descr="UW–Madison logo with white text on black background">
            <a:extLst>
              <a:ext uri="{FF2B5EF4-FFF2-40B4-BE49-F238E27FC236}">
                <a16:creationId xmlns:a16="http://schemas.microsoft.com/office/drawing/2014/main" id="{5AC3464E-EAD7-2F46-80F6-DC8D4A387F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5444" y="2986084"/>
            <a:ext cx="2633112" cy="885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52FCC8-1D08-BC50-5775-78B866D9A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139"/>
            <a:ext cx="8001000" cy="203200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231482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1B1986-83A7-3542-BAD9-60B6AA5AD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0683" y="0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 descr="UW–Madison red crest logo">
            <a:extLst>
              <a:ext uri="{FF2B5EF4-FFF2-40B4-BE49-F238E27FC236}">
                <a16:creationId xmlns:a16="http://schemas.microsoft.com/office/drawing/2014/main" id="{AE3C76A7-671B-A440-9E04-764EF15815E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569280" y="222227"/>
            <a:ext cx="456123" cy="71676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457200"/>
            <a:ext cx="8001000" cy="1066800"/>
          </a:xfrm>
          <a:prstGeom prst="rect">
            <a:avLst/>
          </a:prstGeom>
        </p:spPr>
        <p:txBody>
          <a:bodyPr vert="horz" lIns="0" tIns="4572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4425" y="1828800"/>
            <a:ext cx="7258050" cy="445770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610"/>
            <a:ext cx="795440" cy="313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64008" rIns="91440" bIns="64008" rtlCol="0" anchor="ctr">
            <a:spAutoFit/>
          </a:bodyPr>
          <a:lstStyle>
            <a:lvl1pPr algn="ctr">
              <a:defRPr sz="1200" b="0" i="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74" r:id="rId4"/>
    <p:sldLayoutId id="2147483663" r:id="rId5"/>
    <p:sldLayoutId id="2147483673" r:id="rId6"/>
    <p:sldLayoutId id="2147483666" r:id="rId7"/>
    <p:sldLayoutId id="2147483667" r:id="rId8"/>
    <p:sldLayoutId id="2147483676" r:id="rId9"/>
    <p:sldLayoutId id="2147483677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132160" indent="-13216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22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476250" indent="-1333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819150" indent="-1333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157288" indent="-128588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1501379" indent="-12977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54" userDrawn="1">
          <p15:clr>
            <a:srgbClr val="F26B43"/>
          </p15:clr>
        </p15:guide>
        <p15:guide id="3" pos="5706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pos="5436" userDrawn="1">
          <p15:clr>
            <a:srgbClr val="F26B43"/>
          </p15:clr>
        </p15:guide>
        <p15:guide id="6" orient="horz" pos="4248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960" userDrawn="1">
          <p15:clr>
            <a:srgbClr val="F26B43"/>
          </p15:clr>
        </p15:guide>
        <p15:guide id="9" pos="5274" userDrawn="1">
          <p15:clr>
            <a:srgbClr val="F26B43"/>
          </p15:clr>
        </p15:guide>
        <p15:guide id="10" pos="702" userDrawn="1">
          <p15:clr>
            <a:srgbClr val="F26B43"/>
          </p15:clr>
        </p15:guide>
        <p15:guide id="11" orient="horz" pos="1152" userDrawn="1">
          <p15:clr>
            <a:srgbClr val="F26B43"/>
          </p15:clr>
        </p15:guide>
        <p15:guide id="12" orient="horz" pos="3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enroll@stat.wisc.edu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9EEA7-BFD6-5532-4746-6597484D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Welcome to Stat 240!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AA226-12AE-D5BF-2786-E1A3A24714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/>
              <a:t>Spring 2026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CC1F1-0C01-1AFA-7C9A-9FB8665A7C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Instructor: </a:t>
            </a:r>
            <a:r>
              <a:rPr lang="en-US" sz="2400" dirty="0" err="1"/>
              <a:t>Sahifa</a:t>
            </a:r>
            <a:r>
              <a:rPr lang="en-US" sz="2400" dirty="0"/>
              <a:t> </a:t>
            </a:r>
            <a:r>
              <a:rPr lang="en-US" sz="2400" dirty="0" err="1"/>
              <a:t>Siddiqua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058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B51F98-B7F8-82CB-30B1-B0717AEF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About Your Instructor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BF94F9-F466-0B07-BDEE-C1C469D78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4425" y="4226929"/>
            <a:ext cx="5326132" cy="354459"/>
          </a:xfrm>
        </p:spPr>
        <p:txBody>
          <a:bodyPr/>
          <a:lstStyle/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1311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Sahifa</a:t>
            </a:r>
            <a:r>
              <a:rPr lang="en-US" dirty="0"/>
              <a:t> </a:t>
            </a:r>
            <a:r>
              <a:rPr lang="en-US" dirty="0" err="1"/>
              <a:t>Siddiqua</a:t>
            </a:r>
            <a:r>
              <a:rPr lang="en-US" dirty="0"/>
              <a:t> (Call me Ms. </a:t>
            </a:r>
            <a:r>
              <a:rPr lang="en-US" dirty="0" err="1"/>
              <a:t>Sidd</a:t>
            </a:r>
            <a:r>
              <a:rPr lang="en-US" dirty="0"/>
              <a:t>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915" y="2016464"/>
            <a:ext cx="4827014" cy="349308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BSc in Mathematics</a:t>
            </a: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MS and PhD in Mathematical Statistics</a:t>
            </a: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Joined UW-Madison last Fall.</a:t>
            </a: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EE717B-1060-2AB6-8B19-F902DE120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01349"/>
            <a:ext cx="2821670" cy="350865"/>
          </a:xfrm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</a:pP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STAT 240, </a:t>
            </a:r>
            <a:r>
              <a:rPr lang="en-US" dirty="0"/>
              <a:t>Spring</a:t>
            </a: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 2025, Lecture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4C1202-3673-A959-AC54-7A0AA1A0B9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50" r="-50"/>
          <a:stretch/>
        </p:blipFill>
        <p:spPr>
          <a:xfrm>
            <a:off x="6069998" y="1629961"/>
            <a:ext cx="2727637" cy="4266090"/>
          </a:xfrm>
          <a:prstGeom prst="rect">
            <a:avLst/>
          </a:prstGeom>
          <a:ln w="190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67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Promises As Your 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263" y="1683544"/>
            <a:ext cx="8413474" cy="4485761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</a:pPr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Homework and exams will faithfully reflect lecture content</a:t>
            </a:r>
          </a:p>
          <a:p>
            <a:pPr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</a:pPr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Expectations, deadlines, and grading criteria will be clearly communicated and applied fairly and strictly!</a:t>
            </a:r>
          </a:p>
          <a:p>
            <a:pPr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</a:pPr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We will foster an inclusive learning environment for everyone</a:t>
            </a:r>
          </a:p>
          <a:p>
            <a:pPr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</a:pPr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We will be responsive, understanding, and accommodating to individual needs and life situations</a:t>
            </a:r>
          </a:p>
          <a:p>
            <a:pPr marL="0" indent="0"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defTabSz="685800" fontAlgn="base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</a:pPr>
            <a:r>
              <a:rPr lang="en-US" sz="3500" b="1" dirty="0">
                <a:solidFill>
                  <a:srgbClr val="282728"/>
                </a:solidFill>
                <a:latin typeface="Red Hat Text" panose="02010303040201060303"/>
              </a:rPr>
              <a:t>There is no such thing as a stupid question!</a:t>
            </a: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marL="0" indent="0" fontAlgn="base">
              <a:buNone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marL="0" indent="0" fontAlgn="base">
              <a:buNone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marL="0" indent="0" fontAlgn="base">
              <a:buNone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EE717B-1060-2AB6-8B19-F902DE120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01349"/>
            <a:ext cx="2821670" cy="350865"/>
          </a:xfrm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</a:pP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STAT 240, </a:t>
            </a:r>
            <a:r>
              <a:rPr lang="en-US" dirty="0"/>
              <a:t>Spring</a:t>
            </a: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 2025, Lecture 1</a:t>
            </a:r>
          </a:p>
        </p:txBody>
      </p:sp>
    </p:spTree>
    <p:extLst>
      <p:ext uri="{BB962C8B-B14F-4D97-AF65-F5344CB8AC3E}">
        <p14:creationId xmlns:p14="http://schemas.microsoft.com/office/powerpoint/2010/main" val="63224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B51F98-B7F8-82CB-30B1-B0717AEF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Big Question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BF94F9-F466-0B07-BDEE-C1C469D78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4425" y="4226929"/>
            <a:ext cx="5332674" cy="437668"/>
          </a:xfrm>
        </p:spPr>
        <p:txBody>
          <a:bodyPr/>
          <a:lstStyle/>
          <a:p>
            <a:r>
              <a:rPr lang="en-US" sz="2800" dirty="0"/>
              <a:t>What are you going to learn in this class? </a:t>
            </a:r>
          </a:p>
          <a:p>
            <a:r>
              <a:rPr lang="en-US" sz="2800" dirty="0"/>
              <a:t>The learning outcomes of STAT 240.</a:t>
            </a:r>
          </a:p>
        </p:txBody>
      </p:sp>
    </p:spTree>
    <p:extLst>
      <p:ext uri="{BB962C8B-B14F-4D97-AF65-F5344CB8AC3E}">
        <p14:creationId xmlns:p14="http://schemas.microsoft.com/office/powerpoint/2010/main" val="381021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7376DB-A44A-C93A-4A29-810C22B0B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Course Matters…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9445" y="1840448"/>
            <a:ext cx="6961552" cy="4446053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sz="2400" b="1" dirty="0">
                <a:solidFill>
                  <a:srgbClr val="282728"/>
                </a:solidFill>
                <a:latin typeface="Red Hat Text" panose="02010303040201060303"/>
              </a:rPr>
              <a:t>The goal of this class is to equip you to investigate real world questions using data.</a:t>
            </a:r>
          </a:p>
          <a:p>
            <a:pPr marL="0" indent="0" fontAlgn="base">
              <a:buNone/>
            </a:pP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Translating broad, unclear, plain language questions into rigorous, testable, numeric ones</a:t>
            </a:r>
          </a:p>
          <a:p>
            <a:pPr fontAlgn="base"/>
            <a:endParaRPr lang="en-US" sz="2400" b="0" i="0" dirty="0">
              <a:solidFill>
                <a:srgbClr val="282728"/>
              </a:solidFill>
              <a:effectLst/>
              <a:latin typeface="Red Hat Text" panose="02010303040201060303"/>
            </a:endParaRP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Manipulating messy data, thinking critically about what conclusions we can and cannot make from that data</a:t>
            </a:r>
          </a:p>
          <a:p>
            <a:pPr fontAlgn="base"/>
            <a:endParaRPr lang="en-US" sz="2400" b="0" i="0" dirty="0">
              <a:solidFill>
                <a:srgbClr val="282728"/>
              </a:solidFill>
              <a:effectLst/>
              <a:latin typeface="Red Hat Text" panose="02010303040201060303"/>
            </a:endParaRP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Presenting those conclusions in a way that makes sense to non-experts as well as experts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EE717B-1060-2AB6-8B19-F902DE120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96615"/>
            <a:ext cx="2821670" cy="350865"/>
          </a:xfrm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</a:pP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STAT 240, </a:t>
            </a:r>
            <a:r>
              <a:rPr lang="en-US" dirty="0"/>
              <a:t>Spring</a:t>
            </a: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 2025, Lecture 1</a:t>
            </a:r>
          </a:p>
        </p:txBody>
      </p:sp>
      <p:pic>
        <p:nvPicPr>
          <p:cNvPr id="5" name="Picture 4" descr="rising arrow chart icon">
            <a:extLst>
              <a:ext uri="{FF2B5EF4-FFF2-40B4-BE49-F238E27FC236}">
                <a16:creationId xmlns:a16="http://schemas.microsoft.com/office/drawing/2014/main" id="{BECE3261-3694-5EC5-AF83-A82798781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997" y="5364230"/>
            <a:ext cx="683559" cy="683559"/>
          </a:xfrm>
          <a:prstGeom prst="rect">
            <a:avLst/>
          </a:prstGeom>
        </p:spPr>
      </p:pic>
      <p:pic>
        <p:nvPicPr>
          <p:cNvPr id="7" name="Picture 6" descr="computer monitor icon">
            <a:extLst>
              <a:ext uri="{FF2B5EF4-FFF2-40B4-BE49-F238E27FC236}">
                <a16:creationId xmlns:a16="http://schemas.microsoft.com/office/drawing/2014/main" id="{89D0541D-6BAC-8695-6D25-DA24B179A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996" y="3924834"/>
            <a:ext cx="683559" cy="683559"/>
          </a:xfrm>
          <a:prstGeom prst="rect">
            <a:avLst/>
          </a:prstGeom>
        </p:spPr>
      </p:pic>
      <p:pic>
        <p:nvPicPr>
          <p:cNvPr id="8" name="Picture 7" descr="brain icon">
            <a:extLst>
              <a:ext uri="{FF2B5EF4-FFF2-40B4-BE49-F238E27FC236}">
                <a16:creationId xmlns:a16="http://schemas.microsoft.com/office/drawing/2014/main" id="{5B551F2B-20E0-E128-AD51-F3D0C4892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0997" y="2591386"/>
            <a:ext cx="683559" cy="68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13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…Even if You’re Not a Data Scientist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9445" y="1840448"/>
            <a:ext cx="6700086" cy="4446053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These principles are universal, even if you won’t be coding or doing statistical analysis in your career</a:t>
            </a: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Learn with an open mind… you might surprise yourself!</a:t>
            </a:r>
          </a:p>
        </p:txBody>
      </p:sp>
      <p:pic>
        <p:nvPicPr>
          <p:cNvPr id="5" name="Picture 4" descr="globe icon">
            <a:extLst>
              <a:ext uri="{FF2B5EF4-FFF2-40B4-BE49-F238E27FC236}">
                <a16:creationId xmlns:a16="http://schemas.microsoft.com/office/drawing/2014/main" id="{740E37BD-6B3B-EE92-EB77-5593F32C1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414" y="1831622"/>
            <a:ext cx="683559" cy="683559"/>
          </a:xfrm>
          <a:prstGeom prst="rect">
            <a:avLst/>
          </a:prstGeom>
        </p:spPr>
      </p:pic>
      <p:pic>
        <p:nvPicPr>
          <p:cNvPr id="7" name="Picture 6" descr="lightbulb icon">
            <a:extLst>
              <a:ext uri="{FF2B5EF4-FFF2-40B4-BE49-F238E27FC236}">
                <a16:creationId xmlns:a16="http://schemas.microsoft.com/office/drawing/2014/main" id="{38818A25-2FD0-40DD-7491-2C470167B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413" y="2987336"/>
            <a:ext cx="683559" cy="683559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2713B19-2029-88DB-FE77-EDBBFFA7A422}"/>
              </a:ext>
            </a:extLst>
          </p:cNvPr>
          <p:cNvSpPr txBox="1">
            <a:spLocks/>
          </p:cNvSpPr>
          <p:nvPr/>
        </p:nvSpPr>
        <p:spPr>
          <a:xfrm>
            <a:off x="0" y="6496615"/>
            <a:ext cx="2821670" cy="3508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274320" tIns="64008" rIns="182880" bIns="91440" rtlCol="0" anchor="ctr" anchorCtr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76250" indent="-1333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50" b="0" i="0" kern="120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819150" indent="-1333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50" b="0" i="0" kern="120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157288" indent="-1285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50" b="0" i="0" kern="120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1501379" indent="-12977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50" b="0" i="0" kern="120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STAT 240, Spring 2025, Lecture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14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B51F98-B7F8-82CB-30B1-B0717AEF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Big Picture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BF94F9-F466-0B07-BDEE-C1C469D78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4425" y="4226929"/>
            <a:ext cx="5246618" cy="354459"/>
          </a:xfrm>
        </p:spPr>
        <p:txBody>
          <a:bodyPr/>
          <a:lstStyle/>
          <a:p>
            <a:r>
              <a:rPr lang="en-US" sz="2800" dirty="0"/>
              <a:t>How exactly does STAT 240 work?</a:t>
            </a:r>
          </a:p>
        </p:txBody>
      </p:sp>
    </p:spTree>
    <p:extLst>
      <p:ext uri="{BB962C8B-B14F-4D97-AF65-F5344CB8AC3E}">
        <p14:creationId xmlns:p14="http://schemas.microsoft.com/office/powerpoint/2010/main" val="14076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Flow: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9444" y="1840448"/>
            <a:ext cx="7438591" cy="4446053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First 5ish weeks of semester: Crash Course on R/</a:t>
            </a:r>
            <a:r>
              <a:rPr lang="en-US" sz="2400" dirty="0" err="1">
                <a:solidFill>
                  <a:srgbClr val="282728"/>
                </a:solidFill>
                <a:latin typeface="Red Hat Text" panose="02010303040201060303"/>
              </a:rPr>
              <a:t>tidyverse</a:t>
            </a:r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r>
              <a:rPr lang="en-US" sz="2000" dirty="0">
                <a:solidFill>
                  <a:srgbClr val="282728"/>
                </a:solidFill>
                <a:latin typeface="Red Hat Text" panose="02010303040201060303"/>
              </a:rPr>
              <a:t>Ends with an in-class exam (“Midterm 1”) on R/</a:t>
            </a:r>
            <a:r>
              <a:rPr lang="en-US" sz="2000" dirty="0" err="1">
                <a:solidFill>
                  <a:srgbClr val="282728"/>
                </a:solidFill>
                <a:latin typeface="Red Hat Text" panose="02010303040201060303"/>
              </a:rPr>
              <a:t>tidyverse</a:t>
            </a:r>
            <a:endParaRPr lang="en-US" sz="20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Next 5ish weeks of semester: Probability &amp; Random Variables</a:t>
            </a:r>
          </a:p>
          <a:p>
            <a:pPr fontAlgn="base"/>
            <a:r>
              <a:rPr lang="en-US" sz="2000" dirty="0">
                <a:solidFill>
                  <a:srgbClr val="282728"/>
                </a:solidFill>
                <a:latin typeface="Red Hat Text" panose="02010303040201060303"/>
              </a:rPr>
              <a:t>Ends with in-class exam (“Midterm 2”) on probability/random variables (may include some R concepts from part 1)</a:t>
            </a: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Final 5ish weeks of semester: Statistical Inference, Modeling Real Dataset Exploration/Inference</a:t>
            </a:r>
          </a:p>
          <a:p>
            <a:pPr fontAlgn="base"/>
            <a:r>
              <a:rPr lang="en-US" sz="2000" dirty="0">
                <a:solidFill>
                  <a:srgbClr val="282728"/>
                </a:solidFill>
                <a:latin typeface="Red Hat Text" panose="02010303040201060303"/>
              </a:rPr>
              <a:t>Final Exam is in-person, cumulative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D9A280D-4FB0-80D2-D38E-54016737D039}"/>
              </a:ext>
            </a:extLst>
          </p:cNvPr>
          <p:cNvSpPr txBox="1">
            <a:spLocks/>
          </p:cNvSpPr>
          <p:nvPr/>
        </p:nvSpPr>
        <p:spPr>
          <a:xfrm>
            <a:off x="0" y="6496615"/>
            <a:ext cx="2821670" cy="3508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274320" tIns="64008" rIns="182880" bIns="91440" rtlCol="0" anchor="ctr" anchorCtr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76250" indent="-1333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50" b="0" i="0" kern="120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819150" indent="-1333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50" b="0" i="0" kern="120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157288" indent="-1285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50" b="0" i="0" kern="120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1501379" indent="-12977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050" b="0" i="0" kern="120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STAT 240, Spring 2025, Lecture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84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Flow: Week to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1" y="2020441"/>
            <a:ext cx="8380701" cy="4020141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</a:pPr>
            <a:r>
              <a:rPr lang="en-US" sz="2000" b="1" u="sng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Canvas home page is your number one resource for all course-related information</a:t>
            </a:r>
            <a:endParaRPr lang="en-US" sz="2000" dirty="0">
              <a:solidFill>
                <a:srgbClr val="2827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00000"/>
              </a:lnSpc>
            </a:pPr>
            <a:r>
              <a:rPr lang="en-US" sz="2000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lectures per week on course content, same room, same time, conceptual units roughly spanning one week. </a:t>
            </a:r>
            <a:r>
              <a:rPr lang="en-US" sz="2000" b="1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Lectures are highly recommended!!</a:t>
            </a:r>
          </a:p>
          <a:p>
            <a:pPr fontAlgn="base">
              <a:lnSpc>
                <a:spcPct val="100000"/>
              </a:lnSpc>
            </a:pPr>
            <a:r>
              <a:rPr lang="en-US" sz="2000" b="1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next week,</a:t>
            </a:r>
            <a:r>
              <a:rPr lang="en-US" sz="2000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Mondays will be in class quiz to </a:t>
            </a:r>
            <a:r>
              <a:rPr lang="en-US" sz="2000" b="1" u="sng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US" sz="2000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(of previous week’s lecture content)</a:t>
            </a:r>
          </a:p>
          <a:p>
            <a:pPr fontAlgn="base">
              <a:lnSpc>
                <a:spcPct val="100000"/>
              </a:lnSpc>
            </a:pPr>
            <a:r>
              <a:rPr lang="en-US" sz="2000" b="1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next week,</a:t>
            </a:r>
            <a:r>
              <a:rPr lang="en-US" sz="2000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Tuesday, or Wednesday: discussion, </a:t>
            </a:r>
            <a:r>
              <a:rPr lang="en-US" sz="2000" b="1" u="sng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practice for HW content</a:t>
            </a:r>
            <a:r>
              <a:rPr lang="en-US" sz="2000" u="sng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peers, graded on </a:t>
            </a:r>
            <a:r>
              <a:rPr lang="en-US" sz="2000" i="1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being there and participating</a:t>
            </a:r>
            <a:r>
              <a:rPr lang="en-US" sz="2000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(bring your laptop) </a:t>
            </a:r>
            <a:r>
              <a:rPr lang="en-US" sz="2000" b="1" u="sng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Discussions are mandatory!!</a:t>
            </a:r>
            <a:endParaRPr lang="en-US" sz="2000" dirty="0">
              <a:solidFill>
                <a:srgbClr val="2827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</a:pPr>
            <a:r>
              <a:rPr lang="en-US" sz="2000" b="1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next week,</a:t>
            </a:r>
            <a:r>
              <a:rPr lang="en-US" sz="2000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Friday: individual weekly homework due at 11:59pm, graded for </a:t>
            </a:r>
            <a:r>
              <a:rPr lang="en-US" sz="2000" i="1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correctness . </a:t>
            </a:r>
            <a:r>
              <a:rPr lang="en-US" sz="2000" dirty="0">
                <a:solidFill>
                  <a:srgbClr val="28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late HWs will be accepted.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DA0BEA9-B9D9-A232-D265-10B4938A9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96615"/>
            <a:ext cx="2821670" cy="350865"/>
          </a:xfrm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</a:pP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STAT 240, </a:t>
            </a:r>
            <a:r>
              <a:rPr lang="en-US" dirty="0"/>
              <a:t>Spring</a:t>
            </a: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 2025, Lecture 1</a:t>
            </a:r>
          </a:p>
        </p:txBody>
      </p:sp>
    </p:spTree>
    <p:extLst>
      <p:ext uri="{BB962C8B-B14F-4D97-AF65-F5344CB8AC3E}">
        <p14:creationId xmlns:p14="http://schemas.microsoft.com/office/powerpoint/2010/main" val="266836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4FDF-C031-5033-404C-2F74FB79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Schedule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273925C-E9D4-4304-80CC-665937E513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63372994"/>
              </p:ext>
            </p:extLst>
          </p:nvPr>
        </p:nvGraphicFramePr>
        <p:xfrm>
          <a:off x="270165" y="2018016"/>
          <a:ext cx="8603670" cy="403027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20734">
                  <a:extLst>
                    <a:ext uri="{9D8B030D-6E8A-4147-A177-3AD203B41FA5}">
                      <a16:colId xmlns:a16="http://schemas.microsoft.com/office/drawing/2014/main" val="3982967089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451793911"/>
                    </a:ext>
                  </a:extLst>
                </a:gridCol>
                <a:gridCol w="2008909">
                  <a:extLst>
                    <a:ext uri="{9D8B030D-6E8A-4147-A177-3AD203B41FA5}">
                      <a16:colId xmlns:a16="http://schemas.microsoft.com/office/drawing/2014/main" val="884587135"/>
                    </a:ext>
                  </a:extLst>
                </a:gridCol>
                <a:gridCol w="1659773">
                  <a:extLst>
                    <a:ext uri="{9D8B030D-6E8A-4147-A177-3AD203B41FA5}">
                      <a16:colId xmlns:a16="http://schemas.microsoft.com/office/drawing/2014/main" val="1041968856"/>
                    </a:ext>
                  </a:extLst>
                </a:gridCol>
                <a:gridCol w="1720734">
                  <a:extLst>
                    <a:ext uri="{9D8B030D-6E8A-4147-A177-3AD203B41FA5}">
                      <a16:colId xmlns:a16="http://schemas.microsoft.com/office/drawing/2014/main" val="4292724577"/>
                    </a:ext>
                  </a:extLst>
                </a:gridCol>
              </a:tblGrid>
              <a:tr h="13175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Monday</a:t>
                      </a:r>
                    </a:p>
                  </a:txBody>
                  <a:tcPr anchor="ctr">
                    <a:solidFill>
                      <a:srgbClr val="C505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Tuesday</a:t>
                      </a:r>
                    </a:p>
                  </a:txBody>
                  <a:tcPr anchor="ctr">
                    <a:solidFill>
                      <a:srgbClr val="C505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Wednesday</a:t>
                      </a:r>
                    </a:p>
                  </a:txBody>
                  <a:tcPr anchor="ctr">
                    <a:solidFill>
                      <a:srgbClr val="C505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Thursday</a:t>
                      </a:r>
                    </a:p>
                  </a:txBody>
                  <a:tcPr anchor="ctr">
                    <a:solidFill>
                      <a:srgbClr val="C505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Friday</a:t>
                      </a:r>
                    </a:p>
                  </a:txBody>
                  <a:tcPr anchor="ctr">
                    <a:solidFill>
                      <a:srgbClr val="C505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76214"/>
                  </a:ext>
                </a:extLst>
              </a:tr>
              <a:tr h="13175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Lecture </a:t>
                      </a:r>
                      <a:r>
                        <a:rPr lang="en-US" sz="1800" dirty="0"/>
                        <a:t>(mandatory)</a:t>
                      </a:r>
                      <a:endParaRPr lang="en-US" sz="2400" dirty="0"/>
                    </a:p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Quiz </a:t>
                      </a:r>
                    </a:p>
                    <a:p>
                      <a:pPr algn="ctr"/>
                      <a:r>
                        <a:rPr lang="en-US" sz="2000" dirty="0"/>
                        <a:t>(in class)</a:t>
                      </a:r>
                      <a:endParaRPr lang="en-US" sz="240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Discussion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(mandatory)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Lecture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(not mandatory)</a:t>
                      </a:r>
                      <a:endParaRPr lang="en-US" sz="2800" dirty="0"/>
                    </a:p>
                    <a:p>
                      <a:pPr algn="ctr"/>
                      <a:endParaRPr lang="en-US" sz="2400" dirty="0"/>
                    </a:p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Discussion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(mandatory)</a:t>
                      </a:r>
                      <a:endParaRPr lang="en-US" sz="2800" dirty="0"/>
                    </a:p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Lecture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(not mandatory)</a:t>
                      </a:r>
                      <a:endParaRPr lang="en-US" sz="28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HW </a:t>
                      </a:r>
                    </a:p>
                    <a:p>
                      <a:pPr algn="ctr"/>
                      <a:r>
                        <a:rPr lang="en-US" sz="2000" dirty="0"/>
                        <a:t>(due at 11:59PM)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04525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1B983-4E90-2721-F478-207C387B7A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65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9444" y="1840448"/>
            <a:ext cx="7438591" cy="4446053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>
                <a:solidFill>
                  <a:srgbClr val="282728"/>
                </a:solidFill>
                <a:latin typeface="Red Hat Text" panose="02010303040201060303"/>
              </a:rPr>
              <a:t>Bring your laptops!!</a:t>
            </a:r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 Lectures will frequently include </a:t>
            </a:r>
            <a:r>
              <a:rPr lang="en-US" sz="2400" b="1" dirty="0">
                <a:solidFill>
                  <a:srgbClr val="282728"/>
                </a:solidFill>
                <a:latin typeface="Red Hat Text" panose="02010303040201060303"/>
              </a:rPr>
              <a:t>live coding activities</a:t>
            </a:r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/checks of understanding, with opportunities to ask questions and interact with your instructor. </a:t>
            </a:r>
          </a:p>
          <a:p>
            <a:pPr fontAlgn="base"/>
            <a:endParaRPr lang="en-US" sz="24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r>
              <a:rPr lang="en-US" sz="2400" dirty="0">
                <a:solidFill>
                  <a:srgbClr val="282728"/>
                </a:solidFill>
                <a:latin typeface="Red Hat Text" panose="02010303040201060303"/>
              </a:rPr>
              <a:t>Quiz, Homework and Discussion assignments will assume that you are up to date on lecture material.</a:t>
            </a:r>
            <a:endParaRPr lang="en-US" sz="1775" dirty="0">
              <a:solidFill>
                <a:srgbClr val="282728"/>
              </a:solidFill>
              <a:latin typeface="Red Hat Text" panose="02010303040201060303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244754B-D874-7513-ADC2-B494DFB96C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96615"/>
            <a:ext cx="2821670" cy="350865"/>
          </a:xfrm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</a:pP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STAT 240, </a:t>
            </a:r>
            <a:r>
              <a:rPr lang="en-US" dirty="0"/>
              <a:t>Spring</a:t>
            </a: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 2025, Lecture 1</a:t>
            </a:r>
          </a:p>
        </p:txBody>
      </p:sp>
    </p:spTree>
    <p:extLst>
      <p:ext uri="{BB962C8B-B14F-4D97-AF65-F5344CB8AC3E}">
        <p14:creationId xmlns:p14="http://schemas.microsoft.com/office/powerpoint/2010/main" val="1446534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500" y="1840448"/>
            <a:ext cx="8188187" cy="4446053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Your overall score is comprised of these weighted categories:</a:t>
            </a:r>
          </a:p>
          <a:p>
            <a:pPr marL="0" indent="0" fontAlgn="base">
              <a:buNone/>
            </a:pPr>
            <a:endParaRPr lang="en-US" sz="2800" dirty="0">
              <a:solidFill>
                <a:srgbClr val="282728"/>
              </a:solidFill>
              <a:latin typeface="Red Hat Text" panose="02010303040201060303"/>
            </a:endParaRPr>
          </a:p>
          <a:p>
            <a:pPr fontAlgn="base"/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Discussion Participation (</a:t>
            </a:r>
            <a:r>
              <a:rPr lang="en-US" sz="2800" i="1" dirty="0">
                <a:solidFill>
                  <a:srgbClr val="282728"/>
                </a:solidFill>
                <a:latin typeface="Red Hat Text" panose="02010303040201060303"/>
              </a:rPr>
              <a:t>2 free drops</a:t>
            </a:r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): </a:t>
            </a:r>
            <a:r>
              <a:rPr lang="en-US" sz="2800" b="1" dirty="0">
                <a:solidFill>
                  <a:srgbClr val="282728"/>
                </a:solidFill>
                <a:latin typeface="Red Hat Text" panose="02010303040201060303"/>
              </a:rPr>
              <a:t>10%</a:t>
            </a:r>
          </a:p>
          <a:p>
            <a:pPr fontAlgn="base"/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Weekly </a:t>
            </a:r>
            <a:r>
              <a:rPr lang="en-US" sz="2800" dirty="0" err="1">
                <a:solidFill>
                  <a:srgbClr val="282728"/>
                </a:solidFill>
                <a:latin typeface="Red Hat Text" panose="02010303040201060303"/>
              </a:rPr>
              <a:t>Homeworks</a:t>
            </a:r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 (</a:t>
            </a:r>
            <a:r>
              <a:rPr lang="en-US" sz="2800" i="1" dirty="0">
                <a:solidFill>
                  <a:srgbClr val="282728"/>
                </a:solidFill>
                <a:latin typeface="Red Hat Text" panose="02010303040201060303"/>
              </a:rPr>
              <a:t>1 free drop</a:t>
            </a:r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): </a:t>
            </a:r>
            <a:r>
              <a:rPr lang="en-US" sz="2800" b="1" dirty="0">
                <a:solidFill>
                  <a:srgbClr val="282728"/>
                </a:solidFill>
                <a:latin typeface="Red Hat Text" panose="02010303040201060303"/>
              </a:rPr>
              <a:t>15%</a:t>
            </a:r>
          </a:p>
          <a:p>
            <a:pPr fontAlgn="base"/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Weekly Quizzes (2 free drops): </a:t>
            </a:r>
            <a:r>
              <a:rPr lang="en-US" sz="2800" b="1" dirty="0">
                <a:solidFill>
                  <a:srgbClr val="282728"/>
                </a:solidFill>
                <a:latin typeface="Red Hat Text" panose="02010303040201060303"/>
              </a:rPr>
              <a:t>5%</a:t>
            </a:r>
          </a:p>
          <a:p>
            <a:pPr fontAlgn="base"/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Group Project: </a:t>
            </a:r>
            <a:r>
              <a:rPr lang="en-US" sz="2800" b="1" dirty="0">
                <a:solidFill>
                  <a:srgbClr val="282728"/>
                </a:solidFill>
                <a:latin typeface="Red Hat Text" panose="02010303040201060303"/>
              </a:rPr>
              <a:t>10%</a:t>
            </a:r>
          </a:p>
          <a:p>
            <a:pPr fontAlgn="base"/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Midterm 1: </a:t>
            </a:r>
            <a:r>
              <a:rPr lang="en-US" sz="2800" b="1" dirty="0">
                <a:solidFill>
                  <a:srgbClr val="282728"/>
                </a:solidFill>
                <a:latin typeface="Red Hat Text" panose="02010303040201060303"/>
              </a:rPr>
              <a:t>20%</a:t>
            </a:r>
          </a:p>
          <a:p>
            <a:pPr fontAlgn="base"/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Midterm 2: </a:t>
            </a:r>
            <a:r>
              <a:rPr lang="en-US" sz="2800" b="1" dirty="0">
                <a:solidFill>
                  <a:srgbClr val="282728"/>
                </a:solidFill>
                <a:latin typeface="Red Hat Text" panose="02010303040201060303"/>
              </a:rPr>
              <a:t>20%</a:t>
            </a:r>
          </a:p>
          <a:p>
            <a:pPr fontAlgn="base"/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Final Exam: </a:t>
            </a:r>
            <a:r>
              <a:rPr lang="en-US" sz="2800" b="1" dirty="0">
                <a:solidFill>
                  <a:srgbClr val="282728"/>
                </a:solidFill>
                <a:latin typeface="Red Hat Text" panose="02010303040201060303"/>
              </a:rPr>
              <a:t>20%</a:t>
            </a:r>
          </a:p>
          <a:p>
            <a:pPr marL="0" indent="0" fontAlgn="base">
              <a:buNone/>
            </a:pPr>
            <a:endParaRPr lang="en-US" sz="2800" dirty="0">
              <a:solidFill>
                <a:srgbClr val="282728"/>
              </a:solidFill>
              <a:latin typeface="Red Hat Text" panose="02010303040201060303"/>
            </a:endParaRPr>
          </a:p>
          <a:p>
            <a:pPr marL="0" indent="0" fontAlgn="base">
              <a:buNone/>
            </a:pPr>
            <a:endParaRPr lang="en-US" sz="2800" dirty="0">
              <a:solidFill>
                <a:srgbClr val="282728"/>
              </a:solidFill>
              <a:latin typeface="Red Hat Text" panose="02010303040201060303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DC8B48F-D34A-CE2C-FEE0-8F5FE3CE89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96615"/>
            <a:ext cx="2821670" cy="350865"/>
          </a:xfrm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</a:pP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STAT 240, </a:t>
            </a:r>
            <a:r>
              <a:rPr lang="en-US" dirty="0"/>
              <a:t>Spring</a:t>
            </a: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 2025, Lecture 1</a:t>
            </a:r>
          </a:p>
        </p:txBody>
      </p:sp>
    </p:spTree>
    <p:extLst>
      <p:ext uri="{BB962C8B-B14F-4D97-AF65-F5344CB8AC3E}">
        <p14:creationId xmlns:p14="http://schemas.microsoft.com/office/powerpoint/2010/main" val="4252603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A9E3-5153-80CB-0AE4-A31FB79B3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021" y="2520073"/>
            <a:ext cx="2662030" cy="264032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800" dirty="0">
                <a:solidFill>
                  <a:srgbClr val="282728"/>
                </a:solidFill>
                <a:latin typeface="Red Hat Text" panose="02010303040201060303"/>
              </a:rPr>
              <a:t>Your letter grade will be evaluated based on this scale.  </a:t>
            </a:r>
          </a:p>
          <a:p>
            <a:pPr marL="0" indent="0" fontAlgn="base">
              <a:buNone/>
            </a:pPr>
            <a:endParaRPr lang="en-US" sz="2800" b="1" dirty="0">
              <a:solidFill>
                <a:srgbClr val="282728"/>
              </a:solidFill>
              <a:latin typeface="Red Hat Text" panose="02010303040201060303"/>
            </a:endParaRPr>
          </a:p>
          <a:p>
            <a:pPr marL="0" indent="0" fontAlgn="base">
              <a:buNone/>
            </a:pPr>
            <a:r>
              <a:rPr lang="en-US" sz="2800" b="1" dirty="0">
                <a:solidFill>
                  <a:srgbClr val="282728"/>
                </a:solidFill>
                <a:latin typeface="Red Hat Text" panose="02010303040201060303"/>
              </a:rPr>
              <a:t>No curve!!</a:t>
            </a:r>
          </a:p>
          <a:p>
            <a:pPr marL="0" indent="0" fontAlgn="base">
              <a:buNone/>
            </a:pPr>
            <a:endParaRPr lang="en-US" sz="2800" dirty="0">
              <a:solidFill>
                <a:srgbClr val="282728"/>
              </a:solidFill>
              <a:latin typeface="Red Hat Text" panose="02010303040201060303"/>
            </a:endParaRPr>
          </a:p>
          <a:p>
            <a:pPr marL="0" indent="0" fontAlgn="base">
              <a:buNone/>
            </a:pPr>
            <a:endParaRPr lang="en-US" sz="2800" dirty="0">
              <a:solidFill>
                <a:srgbClr val="282728"/>
              </a:solidFill>
              <a:latin typeface="Red Hat Text" panose="02010303040201060303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4B9F96-EF6F-F18B-8CF4-7BEA2D1206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267"/>
          <a:stretch/>
        </p:blipFill>
        <p:spPr>
          <a:xfrm>
            <a:off x="4846334" y="862549"/>
            <a:ext cx="2888712" cy="5435828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49DA44F-5132-61A9-BBC6-3A6439B238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96615"/>
            <a:ext cx="2821670" cy="350865"/>
          </a:xfrm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</a:pP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STAT 240, </a:t>
            </a:r>
            <a:r>
              <a:rPr lang="en-US" dirty="0"/>
              <a:t>Spring</a:t>
            </a: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 2025, Lecture 1</a:t>
            </a:r>
          </a:p>
        </p:txBody>
      </p:sp>
    </p:spTree>
    <p:extLst>
      <p:ext uri="{BB962C8B-B14F-4D97-AF65-F5344CB8AC3E}">
        <p14:creationId xmlns:p14="http://schemas.microsoft.com/office/powerpoint/2010/main" val="635775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29929-252C-869B-F1E0-52CF114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1349"/>
            <a:ext cx="6700085" cy="353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B63D-E412-E79A-A5B6-7933C4EC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6E41B2A-D848-A696-8DAF-ACAE8F295A6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5070144"/>
              </p:ext>
            </p:extLst>
          </p:nvPr>
        </p:nvGraphicFramePr>
        <p:xfrm>
          <a:off x="1114425" y="1839913"/>
          <a:ext cx="7258050" cy="3252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025">
                  <a:extLst>
                    <a:ext uri="{9D8B030D-6E8A-4147-A177-3AD203B41FA5}">
                      <a16:colId xmlns:a16="http://schemas.microsoft.com/office/drawing/2014/main" val="1669004909"/>
                    </a:ext>
                  </a:extLst>
                </a:gridCol>
                <a:gridCol w="3629025">
                  <a:extLst>
                    <a:ext uri="{9D8B030D-6E8A-4147-A177-3AD203B41FA5}">
                      <a16:colId xmlns:a16="http://schemas.microsoft.com/office/drawing/2014/main" val="3227935781"/>
                    </a:ext>
                  </a:extLst>
                </a:gridCol>
              </a:tblGrid>
              <a:tr h="940559">
                <a:tc>
                  <a:txBody>
                    <a:bodyPr/>
                    <a:lstStyle/>
                    <a:p>
                      <a:r>
                        <a:rPr lang="en-US" sz="2800" dirty="0"/>
                        <a:t>Asynchronous 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In-Person Help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706449"/>
                  </a:ext>
                </a:extLst>
              </a:tr>
              <a:tr h="940559">
                <a:tc>
                  <a:txBody>
                    <a:bodyPr/>
                    <a:lstStyle/>
                    <a:p>
                      <a:r>
                        <a:rPr lang="en-US" sz="2800" dirty="0"/>
                        <a:t>Piazza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Office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637646"/>
                  </a:ext>
                </a:extLst>
              </a:tr>
              <a:tr h="94055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Email Professor and/or your TA (fastest)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GLC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427728"/>
                  </a:ext>
                </a:extLst>
              </a:tr>
            </a:tbl>
          </a:graphicData>
        </a:graphic>
      </p:graphicFrame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BF9B40-EA9F-0673-3E49-311F37A73E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96615"/>
            <a:ext cx="2821670" cy="350865"/>
          </a:xfrm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</a:pP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STAT 240, </a:t>
            </a:r>
            <a:r>
              <a:rPr lang="en-US" dirty="0"/>
              <a:t>Spring</a:t>
            </a:r>
            <a:r>
              <a:rPr lang="en-US" sz="1400" dirty="0">
                <a:solidFill>
                  <a:schemeClr val="bg1"/>
                </a:solidFill>
                <a:latin typeface="Red Hat Text" panose="02010303040201060303" pitchFamily="2" charset="0"/>
              </a:rPr>
              <a:t> 2025, Lecture 1</a:t>
            </a:r>
          </a:p>
        </p:txBody>
      </p:sp>
    </p:spTree>
    <p:extLst>
      <p:ext uri="{BB962C8B-B14F-4D97-AF65-F5344CB8AC3E}">
        <p14:creationId xmlns:p14="http://schemas.microsoft.com/office/powerpoint/2010/main" val="3543963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1289-BFF7-CFD3-D0BB-97632C69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from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225C-1534-F819-D9C4-63E44C83E5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67" y="1954747"/>
            <a:ext cx="8001000" cy="4446053"/>
          </a:xfrm>
        </p:spPr>
        <p:txBody>
          <a:bodyPr>
            <a:normAutofit/>
          </a:bodyPr>
          <a:lstStyle/>
          <a:p>
            <a:r>
              <a:rPr lang="en-US" dirty="0"/>
              <a:t>Students are expected to be regular in lectures and discussions and participate actively.</a:t>
            </a:r>
          </a:p>
          <a:p>
            <a:r>
              <a:rPr lang="en-US" dirty="0"/>
              <a:t>Students are expected to be up-to-date with the course materials and on time with their HW submissions and discussions. </a:t>
            </a:r>
            <a:r>
              <a:rPr lang="en-US" b="1" dirty="0"/>
              <a:t>NO excuse will be accepted for missing discussions</a:t>
            </a:r>
            <a:r>
              <a:rPr lang="en-US" dirty="0"/>
              <a:t> except for the ones discussed/shared in advance with me or the </a:t>
            </a:r>
            <a:r>
              <a:rPr lang="en-US" dirty="0" err="1"/>
              <a:t>TAs.</a:t>
            </a:r>
            <a:r>
              <a:rPr lang="en-US" dirty="0"/>
              <a:t> </a:t>
            </a:r>
            <a:r>
              <a:rPr lang="en-US" b="1" dirty="0"/>
              <a:t>Strict NO late HW policy!!!</a:t>
            </a:r>
          </a:p>
          <a:p>
            <a:r>
              <a:rPr lang="en-US" dirty="0"/>
              <a:t>Each one of you is expected to collaborate with your group members for </a:t>
            </a:r>
            <a:r>
              <a:rPr lang="en-US" b="1" dirty="0"/>
              <a:t>discussion assignments and group projects</a:t>
            </a:r>
            <a:r>
              <a:rPr lang="en-US" dirty="0"/>
              <a:t>. Failure to do so will result in 0 for your assignments.</a:t>
            </a:r>
          </a:p>
          <a:p>
            <a:r>
              <a:rPr lang="en-US" dirty="0"/>
              <a:t>Students need to bring it to our (mine and the TAs) notice if they are having trouble with the course material, software issues, or classmate issues.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A4E96-A5CE-BFB5-88F4-B38F161836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51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1B07-4178-493D-FEE8-051D3B80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for clashes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8254D-5A87-FE65-ABE8-F92E0517AC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Timing clash:</a:t>
            </a:r>
            <a:r>
              <a:rPr lang="en-US" dirty="0"/>
              <a:t> If you have timing clashes with your discussion or lecture, please email </a:t>
            </a:r>
            <a:r>
              <a:rPr lang="en-US" b="1" dirty="0">
                <a:hlinkClick r:id="rId2"/>
              </a:rPr>
              <a:t>enroll@stat.wisc.edu</a:t>
            </a:r>
            <a:r>
              <a:rPr lang="en-US" b="1" dirty="0"/>
              <a:t> </a:t>
            </a:r>
            <a:r>
              <a:rPr lang="en-US" dirty="0"/>
              <a:t>about it and they should be able to help you move into other sections, if there are open slots available.</a:t>
            </a:r>
          </a:p>
          <a:p>
            <a:r>
              <a:rPr lang="en-US" b="1" dirty="0"/>
              <a:t>Schedule clash: </a:t>
            </a:r>
            <a:r>
              <a:rPr lang="en-US" dirty="0"/>
              <a:t>If you have a clash with exam timings, especially if you have more than 3 exams listed on the same day. Please let me know ASAP.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There are NO makeups for Quiz, HW and DIS. Makeup exam is only provided if pre-approved by me.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D7B45-6112-946A-9C53-FDC4E060C7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83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AA77A-AABA-2C6E-7DA3-5BE33314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07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theme1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C5050C"/>
      </a:accent2>
      <a:accent3>
        <a:srgbClr val="9B0000"/>
      </a:accent3>
      <a:accent4>
        <a:srgbClr val="FCCB51"/>
      </a:accent4>
      <a:accent5>
        <a:srgbClr val="80B3AE"/>
      </a:accent5>
      <a:accent6>
        <a:srgbClr val="ADADAD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text-RedHat-4_3" id="{475E5D8D-C0C1-554A-AEE8-DFCC60660036}" vid="{29226B5A-7B3E-BE44-8BFD-6AED9CF1B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FirstLecture</Template>
  <TotalTime>3552</TotalTime>
  <Words>957</Words>
  <Application>Microsoft Macintosh PowerPoint</Application>
  <PresentationFormat>On-screen Show (4:3)</PresentationFormat>
  <Paragraphs>141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Red Hat Display</vt:lpstr>
      <vt:lpstr>Red Hat Text</vt:lpstr>
      <vt:lpstr>Times New Roman</vt:lpstr>
      <vt:lpstr>Office Theme</vt:lpstr>
      <vt:lpstr>Welcome to Stat 240!</vt:lpstr>
      <vt:lpstr>About Your Instructor</vt:lpstr>
      <vt:lpstr>Sahifa Siddiqua (Call me Ms. Sidd!)</vt:lpstr>
      <vt:lpstr>My Promises As Your Instructor</vt:lpstr>
      <vt:lpstr>The Big Question</vt:lpstr>
      <vt:lpstr>Why This Course Matters…</vt:lpstr>
      <vt:lpstr>…Even if You’re Not a Data Scientist</vt:lpstr>
      <vt:lpstr>The Big Picture</vt:lpstr>
      <vt:lpstr>Course Flow: Big Picture</vt:lpstr>
      <vt:lpstr>Course Flow: Week to Week</vt:lpstr>
      <vt:lpstr>Weekly Schedule</vt:lpstr>
      <vt:lpstr>Lectures</vt:lpstr>
      <vt:lpstr>Grading</vt:lpstr>
      <vt:lpstr>Grading</vt:lpstr>
      <vt:lpstr>Resources</vt:lpstr>
      <vt:lpstr>Expectations from students</vt:lpstr>
      <vt:lpstr>Resources for clashes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template</dc:title>
  <dc:creator>Cameron J</dc:creator>
  <cp:lastModifiedBy>Sahifa Siddiqua</cp:lastModifiedBy>
  <cp:revision>8</cp:revision>
  <dcterms:created xsi:type="dcterms:W3CDTF">2023-11-24T04:45:16Z</dcterms:created>
  <dcterms:modified xsi:type="dcterms:W3CDTF">2026-01-21T18:17:21Z</dcterms:modified>
</cp:coreProperties>
</file>